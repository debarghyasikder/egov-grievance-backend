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0.svg" ContentType="image/svg+xml"/>
  <Override PartName="/ppt/media/image13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4.svg" ContentType="image/svg+xml"/>
  <Override PartName="/ppt/media/image4.svg" ContentType="image/svg+xml"/>
  <Override PartName="/ppt/media/image42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4630400" cy="8229600"/>
  <p:notesSz cx="8229600" cy="14630400"/>
  <p:embeddedFontLst>
    <p:embeddedFont>
      <p:font typeface="Arimo" panose="020B0604020202020204" pitchFamily="34" charset="0"/>
      <p:bold r:id="rId22"/>
    </p:embeddedFont>
    <p:embeddedFont>
      <p:font typeface="Arimo" panose="020B0604020202020204" pitchFamily="34" charset="-122"/>
      <p:bold r:id="rId23"/>
    </p:embeddedFont>
    <p:embeddedFont>
      <p:font typeface="Arimo" panose="020B0604020202020204" pitchFamily="34" charset="-120"/>
      <p:bold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8.xml"/><Relationship Id="rId12" Type="http://schemas.openxmlformats.org/officeDocument/2006/relationships/image" Target="../media/image26.svg"/><Relationship Id="rId11" Type="http://schemas.openxmlformats.org/officeDocument/2006/relationships/image" Target="../media/image25.png"/><Relationship Id="rId10" Type="http://schemas.openxmlformats.org/officeDocument/2006/relationships/image" Target="../media/image24.sv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304693"/>
            <a:ext cx="7468553" cy="2112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E-Governance Grievance Redressal System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775716"/>
            <a:ext cx="7468553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 secure, citizen-centric full-stack web application transforming how government departments handle public service complaints through digital innovation and transparency.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178719"/>
            <a:ext cx="1659493" cy="449818"/>
          </a:xfrm>
          <a:prstGeom prst="roundRect">
            <a:avLst>
              <a:gd name="adj" fmla="val 6386"/>
            </a:avLst>
          </a:prstGeom>
          <a:solidFill>
            <a:srgbClr val="0F004D"/>
          </a:solidFill>
        </p:spPr>
      </p:sp>
      <p:sp>
        <p:nvSpPr>
          <p:cNvPr id="3" name="Text 1"/>
          <p:cNvSpPr/>
          <p:nvPr/>
        </p:nvSpPr>
        <p:spPr>
          <a:xfrm>
            <a:off x="981313" y="1250513"/>
            <a:ext cx="1372314" cy="3062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724263"/>
            <a:ext cx="12954952" cy="14080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Challenge of Manual Grievance Handling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3730585"/>
            <a:ext cx="2968943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Current Pain Points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4321850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Manual processing creates bottlenecks and delays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788575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No centralized tracking of complaint status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255300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Limited transparency in resolution process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722025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Poor accountability across departments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37724" y="6188750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Citizens left without visibility into their complaints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4761" y="3730585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14761" y="4321850"/>
            <a:ext cx="6185535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 comprehensive digital platform that centralizes grievance management, enabling real-time tracking, automated department assignment, and complete transparency throughout the resolution lifecycle.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614761" y="6069330"/>
            <a:ext cx="6185535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Built with enterprise-grade security and modern web technologies to serve citizens efficiently.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571030"/>
            <a:ext cx="1781175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8061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8933" y="1707832"/>
            <a:ext cx="191453" cy="191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6112" y="1650444"/>
            <a:ext cx="1191578" cy="3062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806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2131814"/>
            <a:ext cx="682502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Goals &amp; Scope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837724" y="3194804"/>
            <a:ext cx="4158734" cy="3463647"/>
          </a:xfrm>
          <a:prstGeom prst="roundRect">
            <a:avLst>
              <a:gd name="adj" fmla="val 1037"/>
            </a:avLst>
          </a:prstGeom>
          <a:solidFill>
            <a:srgbClr val="2B2952"/>
          </a:solidFill>
        </p:spPr>
      </p:sp>
      <p:sp>
        <p:nvSpPr>
          <p:cNvPr id="7" name="Shape 4"/>
          <p:cNvSpPr/>
          <p:nvPr/>
        </p:nvSpPr>
        <p:spPr>
          <a:xfrm>
            <a:off x="1077039" y="3434120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8061FF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4445" y="3631525"/>
            <a:ext cx="323136" cy="323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7039" y="4391501"/>
            <a:ext cx="3071932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Secure Architecture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77039" y="4887039"/>
            <a:ext cx="3680103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Implement JWT authentication, role-based access control, and encrypted data handling for citizen protection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5235773" y="3194804"/>
            <a:ext cx="4158734" cy="3463647"/>
          </a:xfrm>
          <a:prstGeom prst="roundRect">
            <a:avLst>
              <a:gd name="adj" fmla="val 1037"/>
            </a:avLst>
          </a:prstGeom>
          <a:solidFill>
            <a:srgbClr val="2B2952"/>
          </a:solidFill>
        </p:spPr>
      </p:sp>
      <p:sp>
        <p:nvSpPr>
          <p:cNvPr id="12" name="Shape 8"/>
          <p:cNvSpPr/>
          <p:nvPr/>
        </p:nvSpPr>
        <p:spPr>
          <a:xfrm>
            <a:off x="5475089" y="3434120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8061FF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72495" y="3631525"/>
            <a:ext cx="323136" cy="3231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75089" y="4391501"/>
            <a:ext cx="2997041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Modern Tech Stack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5475089" y="4887039"/>
            <a:ext cx="3680103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Leverage Spring Boot 3.x backend with Angular frontend for scalable, maintainable enterprise application</a:t>
            </a:r>
            <a:endParaRPr lang="en-US" sz="1850" dirty="0"/>
          </a:p>
        </p:txBody>
      </p:sp>
      <p:sp>
        <p:nvSpPr>
          <p:cNvPr id="16" name="Shape 11"/>
          <p:cNvSpPr/>
          <p:nvPr/>
        </p:nvSpPr>
        <p:spPr>
          <a:xfrm>
            <a:off x="9633823" y="3194804"/>
            <a:ext cx="4158853" cy="3463647"/>
          </a:xfrm>
          <a:prstGeom prst="roundRect">
            <a:avLst>
              <a:gd name="adj" fmla="val 1037"/>
            </a:avLst>
          </a:prstGeom>
          <a:solidFill>
            <a:srgbClr val="2B2952"/>
          </a:solidFill>
        </p:spPr>
      </p:sp>
      <p:sp>
        <p:nvSpPr>
          <p:cNvPr id="17" name="Shape 12"/>
          <p:cNvSpPr/>
          <p:nvPr/>
        </p:nvSpPr>
        <p:spPr>
          <a:xfrm>
            <a:off x="9873139" y="3434120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8061FF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70544" y="3631525"/>
            <a:ext cx="323136" cy="3231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73139" y="4391501"/>
            <a:ext cx="3504486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Real-World Workflows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9873139" y="4887039"/>
            <a:ext cx="3680222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Demonstrate CRUD operations, lifecycle management, reporting, and analytics with production-ready patterns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998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426" y="3172778"/>
            <a:ext cx="4893826" cy="6116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Technology Stack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1124426" y="4304228"/>
            <a:ext cx="2446853" cy="3057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Backend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124426" y="4817864"/>
            <a:ext cx="3745825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Java 21 with Spring Boot 3.5.9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24426" y="5223391"/>
            <a:ext cx="3745825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Spring Web for RESTful APIs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24426" y="5628918"/>
            <a:ext cx="3745825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Spring Data JPA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24426" y="6034445"/>
            <a:ext cx="3745825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Spring Security with JWT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24426" y="6439972"/>
            <a:ext cx="3745825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MySQL database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4426" y="6845498"/>
            <a:ext cx="3745825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Maven build system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24426" y="7251025"/>
            <a:ext cx="3745825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Microservices architecture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85316" y="4304228"/>
            <a:ext cx="2446853" cy="3057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Frontend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385316" y="4817864"/>
            <a:ext cx="3745825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Angular 21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85316" y="5223391"/>
            <a:ext cx="3745825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TypeScript for type safety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385316" y="5628918"/>
            <a:ext cx="3745825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Angular Material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85316" y="6034445"/>
            <a:ext cx="3745825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Reactive Forms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85316" y="6439972"/>
            <a:ext cx="3745825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HttpClient &amp; Interceptors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85316" y="6845498"/>
            <a:ext cx="3745825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Modular architecture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646206" y="4304228"/>
            <a:ext cx="2577703" cy="3057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Development Tools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646206" y="4817864"/>
            <a:ext cx="3874770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Postman for API testing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46206" y="5223391"/>
            <a:ext cx="3874770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JUnit 5 &amp; Mockito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646206" y="5628918"/>
            <a:ext cx="3874770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Git version control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646206" y="6034445"/>
            <a:ext cx="3874770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GitHub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646206" y="6439972"/>
            <a:ext cx="3874770" cy="332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SonarQube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93971" y="563642"/>
            <a:ext cx="1985724" cy="380047"/>
          </a:xfrm>
          <a:prstGeom prst="roundRect">
            <a:avLst>
              <a:gd name="adj" fmla="val 6387"/>
            </a:avLst>
          </a:prstGeom>
          <a:solidFill>
            <a:srgbClr val="0F004D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5296" y="672703"/>
            <a:ext cx="161806" cy="1618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57945" y="624245"/>
            <a:ext cx="1500426" cy="2588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ACCESS CONTROL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293971" y="1024533"/>
            <a:ext cx="7414022" cy="5949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 Roles &amp; Responsibilities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1293971" y="1922859"/>
            <a:ext cx="5920026" cy="2770346"/>
          </a:xfrm>
          <a:prstGeom prst="roundRect">
            <a:avLst>
              <a:gd name="adj" fmla="val 109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16831" y="1945719"/>
            <a:ext cx="5874306" cy="606862"/>
          </a:xfrm>
          <a:prstGeom prst="roundRect">
            <a:avLst>
              <a:gd name="adj" fmla="val 480"/>
            </a:avLst>
          </a:prstGeom>
          <a:solidFill>
            <a:srgbClr val="2B2952"/>
          </a:solidFill>
        </p:spPr>
      </p:sp>
      <p:sp>
        <p:nvSpPr>
          <p:cNvPr id="8" name="Text 5"/>
          <p:cNvSpPr/>
          <p:nvPr/>
        </p:nvSpPr>
        <p:spPr>
          <a:xfrm>
            <a:off x="4102298" y="2059543"/>
            <a:ext cx="303371" cy="3792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1519118" y="2754868"/>
            <a:ext cx="2379821" cy="2974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Citizen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519118" y="3173611"/>
            <a:ext cx="5469731" cy="1294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Register and submit grievances (department and category wise) online after login, track complaint status in real-time, provide feedback on resolutions, and reopen cases within allowed timeframe.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416284" y="1922859"/>
            <a:ext cx="5920026" cy="2770346"/>
          </a:xfrm>
          <a:prstGeom prst="roundRect">
            <a:avLst>
              <a:gd name="adj" fmla="val 109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39144" y="1945719"/>
            <a:ext cx="5874306" cy="606862"/>
          </a:xfrm>
          <a:prstGeom prst="roundRect">
            <a:avLst>
              <a:gd name="adj" fmla="val 480"/>
            </a:avLst>
          </a:prstGeom>
          <a:solidFill>
            <a:srgbClr val="2B2952"/>
          </a:solidFill>
        </p:spPr>
      </p:sp>
      <p:sp>
        <p:nvSpPr>
          <p:cNvPr id="13" name="Text 10"/>
          <p:cNvSpPr/>
          <p:nvPr/>
        </p:nvSpPr>
        <p:spPr>
          <a:xfrm>
            <a:off x="10224611" y="2059543"/>
            <a:ext cx="303371" cy="3792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7641431" y="2754868"/>
            <a:ext cx="2584490" cy="2974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Department Officer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641431" y="3173611"/>
            <a:ext cx="5469731" cy="1294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View assigned grievances, update status throughout resolution workflow, add resolution remarks, and manage department-specific complaints efficiently. The grievances submitted get auto assigned to officers.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1293971" y="4895493"/>
            <a:ext cx="5920026" cy="2770346"/>
          </a:xfrm>
          <a:prstGeom prst="roundRect">
            <a:avLst>
              <a:gd name="adj" fmla="val 109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16831" y="4918353"/>
            <a:ext cx="5874306" cy="606862"/>
          </a:xfrm>
          <a:prstGeom prst="roundRect">
            <a:avLst>
              <a:gd name="adj" fmla="val 480"/>
            </a:avLst>
          </a:prstGeom>
          <a:solidFill>
            <a:srgbClr val="2B2952"/>
          </a:solidFill>
        </p:spPr>
      </p:sp>
      <p:sp>
        <p:nvSpPr>
          <p:cNvPr id="18" name="Text 15"/>
          <p:cNvSpPr/>
          <p:nvPr/>
        </p:nvSpPr>
        <p:spPr>
          <a:xfrm>
            <a:off x="4102298" y="5032177"/>
            <a:ext cx="303371" cy="3792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350" dirty="0"/>
          </a:p>
        </p:txBody>
      </p:sp>
      <p:sp>
        <p:nvSpPr>
          <p:cNvPr id="19" name="Text 16"/>
          <p:cNvSpPr/>
          <p:nvPr/>
        </p:nvSpPr>
        <p:spPr>
          <a:xfrm>
            <a:off x="1519118" y="5727502"/>
            <a:ext cx="2493883" cy="2974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Supervisory Officer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1519118" y="6146244"/>
            <a:ext cx="5469731" cy="1294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Monitor grievance resolution progress, handle escalations for delayed cases, analyze the status and  performance of all the grievances of all departments, and ensure accountability standards.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7416284" y="4895493"/>
            <a:ext cx="5920026" cy="2770346"/>
          </a:xfrm>
          <a:prstGeom prst="roundRect">
            <a:avLst>
              <a:gd name="adj" fmla="val 1095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39144" y="4918353"/>
            <a:ext cx="5874306" cy="606862"/>
          </a:xfrm>
          <a:prstGeom prst="roundRect">
            <a:avLst>
              <a:gd name="adj" fmla="val 480"/>
            </a:avLst>
          </a:prstGeom>
          <a:solidFill>
            <a:srgbClr val="2B2952"/>
          </a:solidFill>
        </p:spPr>
      </p:sp>
      <p:sp>
        <p:nvSpPr>
          <p:cNvPr id="23" name="Text 20"/>
          <p:cNvSpPr/>
          <p:nvPr/>
        </p:nvSpPr>
        <p:spPr>
          <a:xfrm>
            <a:off x="10224611" y="5032177"/>
            <a:ext cx="303371" cy="3792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2350" dirty="0"/>
          </a:p>
        </p:txBody>
      </p:sp>
      <p:sp>
        <p:nvSpPr>
          <p:cNvPr id="24" name="Text 21"/>
          <p:cNvSpPr/>
          <p:nvPr/>
        </p:nvSpPr>
        <p:spPr>
          <a:xfrm>
            <a:off x="7641431" y="5727502"/>
            <a:ext cx="2379821" cy="2974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Admin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7641431" y="6146244"/>
            <a:ext cx="5469731" cy="1294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Manage departments and categories, access charts and visuals, maintain system settings, and oversee platform operations, dashboards and department wise efficiency. Closes the grievance after its resolved.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8308" y="518874"/>
            <a:ext cx="4440198" cy="11099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u="sng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High Level Design: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8658" y="2006084"/>
            <a:ext cx="9432965" cy="57069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8245" y="567095"/>
            <a:ext cx="5863114" cy="604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Core System Features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8245" y="1582460"/>
            <a:ext cx="513755" cy="5137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8818" y="1704380"/>
            <a:ext cx="3372445" cy="302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Security &amp; Authentication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968818" y="2129790"/>
            <a:ext cx="5217914" cy="13149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JWT-based authentication, role-based access control, password encryption using BCrypt, and secure REST APIs protect citizen data and ensure authorized access only.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3549" y="1582460"/>
            <a:ext cx="513755" cy="5137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14122" y="1704380"/>
            <a:ext cx="3027759" cy="302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Grievance Registration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214122" y="2129790"/>
            <a:ext cx="5217914" cy="986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Citizens submit complaints with auto-generated IDs, category selection, detailed descriptions, and optional supporting documents for comprehensive tracking.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8245" y="3855720"/>
            <a:ext cx="513755" cy="5137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68818" y="3977640"/>
            <a:ext cx="3173016" cy="302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Workflow Management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968818" y="4403050"/>
            <a:ext cx="5217914" cy="986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Complete lifecycle tracking from submission through assignment, review, resolution, and closure with automatic department routing and escalation handling.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3549" y="3855720"/>
            <a:ext cx="513755" cy="5137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14122" y="3977640"/>
            <a:ext cx="2576274" cy="302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Analytics &amp; Reports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8214122" y="4403050"/>
            <a:ext cx="5217914" cy="13149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Comprehensive dashboards showing grievances by category and department, resolution times, performance metrics, and actionable insights for improvement. (ADMIN)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8245" y="6128980"/>
            <a:ext cx="513755" cy="51375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68818" y="6250900"/>
            <a:ext cx="3068122" cy="302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Resolution &amp; Feedback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1968818" y="6676311"/>
            <a:ext cx="5217914" cy="986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Officers provide resolution remarks, citizens rate satisfaction, and provide their rating and feedback based on the quality of service delivery.</a:t>
            </a:r>
            <a:endParaRPr lang="en-US" sz="1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43549" y="6128980"/>
            <a:ext cx="513755" cy="51375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14122" y="6250900"/>
            <a:ext cx="2588419" cy="302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Smart Notifications</a:t>
            </a:r>
            <a:endParaRPr lang="en-US" sz="1900" dirty="0"/>
          </a:p>
        </p:txBody>
      </p:sp>
      <p:sp>
        <p:nvSpPr>
          <p:cNvPr id="20" name="Text 12"/>
          <p:cNvSpPr/>
          <p:nvPr/>
        </p:nvSpPr>
        <p:spPr>
          <a:xfrm>
            <a:off x="8214122" y="6676311"/>
            <a:ext cx="5217914" cy="986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Automated acknowledgments on submission, real-time status change alerts, and updates keep all stakeholders informed throughout the process.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6754" y="347186"/>
            <a:ext cx="957620" cy="252413"/>
          </a:xfrm>
          <a:prstGeom prst="roundRect">
            <a:avLst>
              <a:gd name="adj" fmla="val 6003"/>
            </a:avLst>
          </a:prstGeom>
          <a:noFill/>
          <a:ln w="7620">
            <a:solidFill>
              <a:srgbClr val="80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40098" y="392668"/>
            <a:ext cx="790932" cy="1614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806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556754" y="650081"/>
            <a:ext cx="3942040" cy="3712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Backend System Design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754" y="1210628"/>
            <a:ext cx="3758446" cy="5050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82960" y="1841897"/>
            <a:ext cx="1485543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Controllers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682960" y="2103358"/>
            <a:ext cx="3506033" cy="404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RESTful endpoints handle HTTP requests, validate inputs, and route to services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10628"/>
            <a:ext cx="3758446" cy="5050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41406" y="1841897"/>
            <a:ext cx="1485543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Services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441406" y="2103358"/>
            <a:ext cx="3506033" cy="404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Business logic layer processes workflows, applies rules, manages transactions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754" y="2633663"/>
            <a:ext cx="3758446" cy="5050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82960" y="3264932"/>
            <a:ext cx="1485543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Repositories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3682960" y="3526393"/>
            <a:ext cx="3506033" cy="202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Data access layer with JPA, JPQL queries, pagination support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633663"/>
            <a:ext cx="3758446" cy="5050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41406" y="3264932"/>
            <a:ext cx="1485543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Models &amp; DTOs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7441406" y="3526393"/>
            <a:ext cx="3506033" cy="202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Entity mapping, data transfer objects protect internal structure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3556754" y="4122896"/>
            <a:ext cx="2500432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Implementation Highlights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3556754" y="4434840"/>
            <a:ext cx="3604498" cy="202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Global exception handling for the microservices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3556754" y="4681061"/>
            <a:ext cx="3604498" cy="202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DTO pattern prevents entity exposure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3556754" y="4927283"/>
            <a:ext cx="3604498" cy="202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Configuration via application.yml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3556754" y="5173504"/>
            <a:ext cx="3604498" cy="202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Java 8+ Streams for reporting logic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3556754" y="5419725"/>
            <a:ext cx="3604498" cy="202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Pagination and sorting on all list endpoints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3556754" y="5665946"/>
            <a:ext cx="3604498" cy="202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MySQL database used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3556754" y="5912168"/>
            <a:ext cx="3604498" cy="202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Total of 4 databases- one for each business service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3556754" y="6158389"/>
            <a:ext cx="3604498" cy="202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Auth Service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556754" y="6404610"/>
            <a:ext cx="3604498" cy="202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Grievance Service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3556754" y="6650831"/>
            <a:ext cx="3604498" cy="202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Feedback Service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3556754" y="6897052"/>
            <a:ext cx="3604498" cy="202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Notification Service</a:t>
            </a:r>
            <a:endParaRPr lang="en-US" sz="95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6768" y="4138732"/>
            <a:ext cx="3604498" cy="36044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8948" y="486728"/>
            <a:ext cx="4279583" cy="519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Database Schema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460" y="1359218"/>
            <a:ext cx="7645360" cy="6383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909" y="776407"/>
            <a:ext cx="8560118" cy="6443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Angular Frontend Architecture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93909" y="1858923"/>
            <a:ext cx="4201358" cy="1943338"/>
          </a:xfrm>
          <a:prstGeom prst="roundRect">
            <a:avLst>
              <a:gd name="adj" fmla="val 1691"/>
            </a:avLst>
          </a:prstGeom>
          <a:solidFill>
            <a:srgbClr val="2B2952"/>
          </a:solidFill>
        </p:spPr>
      </p:sp>
      <p:sp>
        <p:nvSpPr>
          <p:cNvPr id="4" name="Text 2"/>
          <p:cNvSpPr/>
          <p:nvPr/>
        </p:nvSpPr>
        <p:spPr>
          <a:xfrm>
            <a:off x="1012984" y="2077998"/>
            <a:ext cx="2577465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Core Module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12984" y="2531626"/>
            <a:ext cx="3763208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Authentication services, route guards, HTTP interceptors, and services used throughout the application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214342" y="1858923"/>
            <a:ext cx="4201478" cy="1943338"/>
          </a:xfrm>
          <a:prstGeom prst="roundRect">
            <a:avLst>
              <a:gd name="adj" fmla="val 1691"/>
            </a:avLst>
          </a:prstGeom>
          <a:solidFill>
            <a:srgbClr val="2B2952"/>
          </a:solidFill>
        </p:spPr>
      </p:sp>
      <p:sp>
        <p:nvSpPr>
          <p:cNvPr id="7" name="Text 5"/>
          <p:cNvSpPr/>
          <p:nvPr/>
        </p:nvSpPr>
        <p:spPr>
          <a:xfrm>
            <a:off x="5433417" y="2077998"/>
            <a:ext cx="2577465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Shared Module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33417" y="2531626"/>
            <a:ext cx="3763327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Reusable components, custom pipes, directives, and common utilities for consistent UI patterns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34895" y="1858923"/>
            <a:ext cx="4201358" cy="1943338"/>
          </a:xfrm>
          <a:prstGeom prst="roundRect">
            <a:avLst>
              <a:gd name="adj" fmla="val 1691"/>
            </a:avLst>
          </a:prstGeom>
          <a:solidFill>
            <a:srgbClr val="2B2952"/>
          </a:solidFill>
        </p:spPr>
      </p:sp>
      <p:sp>
        <p:nvSpPr>
          <p:cNvPr id="10" name="Text 8"/>
          <p:cNvSpPr/>
          <p:nvPr/>
        </p:nvSpPr>
        <p:spPr>
          <a:xfrm>
            <a:off x="9853970" y="2077998"/>
            <a:ext cx="2577465" cy="3221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Feature Modules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53970" y="2531626"/>
            <a:ext cx="3763208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Lazy-loaded modules for Grievances, Departments, Reports, and Admin with isolated routing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93909" y="4130873"/>
            <a:ext cx="4200882" cy="3865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Essential User Interfaces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93909" y="5043249"/>
            <a:ext cx="6253996" cy="3505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Login &amp; registration with validation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93909" y="5470446"/>
            <a:ext cx="6253996" cy="3505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Citizen dashboard with grievance overview and listings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93909" y="5897642"/>
            <a:ext cx="6253996" cy="3505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Lodge grievance form with validation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93909" y="6324838"/>
            <a:ext cx="6253996" cy="3505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My Grievances list with filtering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93909" y="6752034"/>
            <a:ext cx="6253996" cy="3505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Detailed grievance view with timeline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589877" y="5043249"/>
            <a:ext cx="6253996" cy="3505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Department officer dashboard with assignments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89877" y="5470446"/>
            <a:ext cx="6253996" cy="3505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Resolution workflow interface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589877" y="5897642"/>
            <a:ext cx="6253996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Comprehensive reports with visualizations and looking into Escalated grievances(Supervisor).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589877" y="6675358"/>
            <a:ext cx="6253996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Admin panel for system configuration and check department wise progress.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8727" y="607933"/>
            <a:ext cx="2013228" cy="338376"/>
          </a:xfrm>
          <a:prstGeom prst="roundRect">
            <a:avLst>
              <a:gd name="adj" fmla="val 6096"/>
            </a:avLst>
          </a:prstGeom>
          <a:noFill/>
          <a:ln w="7620">
            <a:solidFill>
              <a:srgbClr val="8061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9455" y="708422"/>
            <a:ext cx="137398" cy="1373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15553" y="667107"/>
            <a:ext cx="1585674" cy="2200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806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GRIEVANCE LIFECYCLE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198727" y="1015008"/>
            <a:ext cx="6668810" cy="505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Grievance Lifecycle Workflow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2198727" y="1778318"/>
            <a:ext cx="10232827" cy="2750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The system follows a clear, structured workflow to ensure every citizen grievance is managed efficiently from submission to resolution.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727" y="2246709"/>
            <a:ext cx="859393" cy="10313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29928" y="2418517"/>
            <a:ext cx="2022277" cy="2527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Submitted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3229928" y="2774394"/>
            <a:ext cx="9201626" cy="2750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Citizen logs a new complaint; system assigns a unique ID and acknowledges receipt.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727" y="3278029"/>
            <a:ext cx="859393" cy="10313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29928" y="3449836"/>
            <a:ext cx="2022277" cy="2527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Assigned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3229928" y="3805714"/>
            <a:ext cx="9201626" cy="2750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Complaint is automatically routed to the most relevant department and assigned to an officer.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8727" y="4309348"/>
            <a:ext cx="859393" cy="10313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229928" y="4481155"/>
            <a:ext cx="2022277" cy="2527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 Progress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3229928" y="4837033"/>
            <a:ext cx="9201626" cy="2750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Officer actively investigates the issue, gathers information, and works towards a solution.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8727" y="5340668"/>
            <a:ext cx="859393" cy="124956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29928" y="5512475"/>
            <a:ext cx="2347079" cy="2527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Resolved / Escalated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3229928" y="5868352"/>
            <a:ext cx="9201626" cy="5500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Officer provides a detailed resolution. Citizen can review and provide feedback. If the officer fails to resolve the issue within the SLA period, then grievance is Auto Escalated.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8727" y="6590228"/>
            <a:ext cx="859393" cy="103131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229928" y="6762036"/>
            <a:ext cx="2022277" cy="2527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Closed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3229928" y="7117913"/>
            <a:ext cx="9201626" cy="2750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Grievance formally closed by admin after citizen satisfaction or within defined auto-closure period.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2613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38049" y="2960489"/>
            <a:ext cx="2126933" cy="364808"/>
          </a:xfrm>
          <a:prstGeom prst="roundRect">
            <a:avLst>
              <a:gd name="adj" fmla="val 6384"/>
            </a:avLst>
          </a:prstGeom>
          <a:solidFill>
            <a:srgbClr val="0F004D"/>
          </a:solidFill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4493" y="3065264"/>
            <a:ext cx="155258" cy="1552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87379" y="3018711"/>
            <a:ext cx="1661160" cy="2483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538049" y="3402925"/>
            <a:ext cx="5995749" cy="5709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Testing &amp; Best Practices</a:t>
            </a:r>
            <a:endParaRPr lang="en-US" sz="3550" dirty="0"/>
          </a:p>
        </p:txBody>
      </p:sp>
      <p:sp>
        <p:nvSpPr>
          <p:cNvPr id="7" name="Text 3"/>
          <p:cNvSpPr/>
          <p:nvPr/>
        </p:nvSpPr>
        <p:spPr>
          <a:xfrm>
            <a:off x="1538049" y="4264938"/>
            <a:ext cx="194072" cy="2425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1538049" y="4571881"/>
            <a:ext cx="5679996" cy="22860"/>
          </a:xfrm>
          <a:prstGeom prst="rect">
            <a:avLst/>
          </a:prstGeom>
          <a:solidFill>
            <a:srgbClr val="8061FF"/>
          </a:solidFill>
        </p:spPr>
      </p:sp>
      <p:sp>
        <p:nvSpPr>
          <p:cNvPr id="9" name="Text 5"/>
          <p:cNvSpPr/>
          <p:nvPr/>
        </p:nvSpPr>
        <p:spPr>
          <a:xfrm>
            <a:off x="1538049" y="4714637"/>
            <a:ext cx="2283381" cy="2853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Unit Testing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538049" y="5116473"/>
            <a:ext cx="5679996" cy="621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JUnit 5 and Mockito for service layer testing, repository testing, and business logic validation.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12117" y="4264938"/>
            <a:ext cx="194072" cy="2425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412117" y="4571881"/>
            <a:ext cx="5680115" cy="22860"/>
          </a:xfrm>
          <a:prstGeom prst="rect">
            <a:avLst/>
          </a:prstGeom>
          <a:solidFill>
            <a:srgbClr val="8061FF"/>
          </a:solidFill>
        </p:spPr>
      </p:sp>
      <p:sp>
        <p:nvSpPr>
          <p:cNvPr id="13" name="Text 9"/>
          <p:cNvSpPr/>
          <p:nvPr/>
        </p:nvSpPr>
        <p:spPr>
          <a:xfrm>
            <a:off x="7412117" y="4714637"/>
            <a:ext cx="2283381" cy="2853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API Testing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412117" y="5116473"/>
            <a:ext cx="5680115" cy="621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Comprehensive Postman collections for all endpoints, authentication flows, and edge case scenarios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538049" y="6077069"/>
            <a:ext cx="194072" cy="2425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1538049" y="6384012"/>
            <a:ext cx="5679996" cy="22860"/>
          </a:xfrm>
          <a:prstGeom prst="rect">
            <a:avLst/>
          </a:prstGeom>
          <a:solidFill>
            <a:srgbClr val="8061FF"/>
          </a:solidFill>
        </p:spPr>
      </p:sp>
      <p:sp>
        <p:nvSpPr>
          <p:cNvPr id="17" name="Text 13"/>
          <p:cNvSpPr/>
          <p:nvPr/>
        </p:nvSpPr>
        <p:spPr>
          <a:xfrm>
            <a:off x="1538049" y="6526768"/>
            <a:ext cx="2283381" cy="2853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Security Testing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1538049" y="6928604"/>
            <a:ext cx="5679996" cy="621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Validation of JWT flows, role-based access restrictions, and authorization rules across all protected resources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412117" y="6077069"/>
            <a:ext cx="194072" cy="2425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412117" y="6384012"/>
            <a:ext cx="5680115" cy="22860"/>
          </a:xfrm>
          <a:prstGeom prst="rect">
            <a:avLst/>
          </a:prstGeom>
          <a:solidFill>
            <a:srgbClr val="8061FF"/>
          </a:solidFill>
        </p:spPr>
      </p:sp>
      <p:sp>
        <p:nvSpPr>
          <p:cNvPr id="21" name="Text 17"/>
          <p:cNvSpPr/>
          <p:nvPr/>
        </p:nvSpPr>
        <p:spPr>
          <a:xfrm>
            <a:off x="7412117" y="6526768"/>
            <a:ext cx="2507813" cy="2853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SonarQube Analysis</a:t>
            </a:r>
            <a:endParaRPr lang="en-US" sz="1750" dirty="0"/>
          </a:p>
        </p:txBody>
      </p:sp>
      <p:sp>
        <p:nvSpPr>
          <p:cNvPr id="22" name="Text 18"/>
          <p:cNvSpPr/>
          <p:nvPr/>
        </p:nvSpPr>
        <p:spPr>
          <a:xfrm>
            <a:off x="7412117" y="6928604"/>
            <a:ext cx="5680115" cy="310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Code Quality and coverage ensured through SonarQube analysis.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1818" y="831175"/>
            <a:ext cx="3570684" cy="407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Deliverables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5971818" y="1655088"/>
            <a:ext cx="8173164" cy="1231344"/>
          </a:xfrm>
          <a:prstGeom prst="roundRect">
            <a:avLst>
              <a:gd name="adj" fmla="val 5941"/>
            </a:avLst>
          </a:prstGeom>
          <a:solidFill>
            <a:srgbClr val="0C0A33"/>
          </a:solidFill>
        </p:spPr>
      </p:sp>
      <p:sp>
        <p:nvSpPr>
          <p:cNvPr id="5" name="Shape 2"/>
          <p:cNvSpPr/>
          <p:nvPr/>
        </p:nvSpPr>
        <p:spPr>
          <a:xfrm>
            <a:off x="5971818" y="1639848"/>
            <a:ext cx="8173164" cy="60960"/>
          </a:xfrm>
          <a:prstGeom prst="roundRect">
            <a:avLst>
              <a:gd name="adj" fmla="val 34128"/>
            </a:avLst>
          </a:prstGeom>
          <a:solidFill>
            <a:srgbClr val="8061FF"/>
          </a:solidFill>
        </p:spPr>
      </p:sp>
      <p:sp>
        <p:nvSpPr>
          <p:cNvPr id="6" name="Shape 3"/>
          <p:cNvSpPr/>
          <p:nvPr/>
        </p:nvSpPr>
        <p:spPr>
          <a:xfrm>
            <a:off x="9850398" y="1447086"/>
            <a:ext cx="416004" cy="416004"/>
          </a:xfrm>
          <a:prstGeom prst="roundRect">
            <a:avLst>
              <a:gd name="adj" fmla="val 219806"/>
            </a:avLst>
          </a:prstGeom>
          <a:solidFill>
            <a:srgbClr val="8061FF"/>
          </a:solidFill>
        </p:spPr>
      </p:sp>
      <p:sp>
        <p:nvSpPr>
          <p:cNvPr id="7" name="Text 4"/>
          <p:cNvSpPr/>
          <p:nvPr/>
        </p:nvSpPr>
        <p:spPr>
          <a:xfrm>
            <a:off x="9975175" y="1551027"/>
            <a:ext cx="166330" cy="2080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5647" y="2001798"/>
            <a:ext cx="2166580" cy="2038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Source Code Repository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25647" y="2288738"/>
            <a:ext cx="7865507" cy="443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Complete GitHub repository with organized backend and frontend code, clear folder structure, and comprehensive commit history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71818" y="3233023"/>
            <a:ext cx="8173164" cy="1231344"/>
          </a:xfrm>
          <a:prstGeom prst="roundRect">
            <a:avLst>
              <a:gd name="adj" fmla="val 5941"/>
            </a:avLst>
          </a:prstGeom>
          <a:solidFill>
            <a:srgbClr val="0C0A33"/>
          </a:solidFill>
        </p:spPr>
      </p:sp>
      <p:sp>
        <p:nvSpPr>
          <p:cNvPr id="11" name="Shape 8"/>
          <p:cNvSpPr/>
          <p:nvPr/>
        </p:nvSpPr>
        <p:spPr>
          <a:xfrm>
            <a:off x="5971818" y="3217783"/>
            <a:ext cx="8173164" cy="60960"/>
          </a:xfrm>
          <a:prstGeom prst="roundRect">
            <a:avLst>
              <a:gd name="adj" fmla="val 34128"/>
            </a:avLst>
          </a:prstGeom>
          <a:solidFill>
            <a:srgbClr val="8061FF"/>
          </a:solidFill>
        </p:spPr>
      </p:sp>
      <p:sp>
        <p:nvSpPr>
          <p:cNvPr id="12" name="Shape 9"/>
          <p:cNvSpPr/>
          <p:nvPr/>
        </p:nvSpPr>
        <p:spPr>
          <a:xfrm>
            <a:off x="9850398" y="3025021"/>
            <a:ext cx="416004" cy="416004"/>
          </a:xfrm>
          <a:prstGeom prst="roundRect">
            <a:avLst>
              <a:gd name="adj" fmla="val 219806"/>
            </a:avLst>
          </a:prstGeom>
          <a:solidFill>
            <a:srgbClr val="8061FF"/>
          </a:solidFill>
        </p:spPr>
      </p:sp>
      <p:sp>
        <p:nvSpPr>
          <p:cNvPr id="13" name="Text 10"/>
          <p:cNvSpPr/>
          <p:nvPr/>
        </p:nvSpPr>
        <p:spPr>
          <a:xfrm>
            <a:off x="9975175" y="3128963"/>
            <a:ext cx="166330" cy="2080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25647" y="3579733"/>
            <a:ext cx="2252543" cy="2038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Documentation Package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125647" y="3866674"/>
            <a:ext cx="7865507" cy="443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Database schema with ER diagrams, API documentation in the report, detailed README with setup instructions, and architecture diagrams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71818" y="4810958"/>
            <a:ext cx="8173164" cy="1009412"/>
          </a:xfrm>
          <a:prstGeom prst="roundRect">
            <a:avLst>
              <a:gd name="adj" fmla="val 7247"/>
            </a:avLst>
          </a:prstGeom>
          <a:solidFill>
            <a:srgbClr val="0C0A33"/>
          </a:solidFill>
        </p:spPr>
      </p:sp>
      <p:sp>
        <p:nvSpPr>
          <p:cNvPr id="17" name="Shape 14"/>
          <p:cNvSpPr/>
          <p:nvPr/>
        </p:nvSpPr>
        <p:spPr>
          <a:xfrm>
            <a:off x="5971818" y="4795718"/>
            <a:ext cx="8173164" cy="60960"/>
          </a:xfrm>
          <a:prstGeom prst="roundRect">
            <a:avLst>
              <a:gd name="adj" fmla="val 34128"/>
            </a:avLst>
          </a:prstGeom>
          <a:solidFill>
            <a:srgbClr val="8061FF"/>
          </a:solidFill>
        </p:spPr>
      </p:sp>
      <p:sp>
        <p:nvSpPr>
          <p:cNvPr id="18" name="Shape 15"/>
          <p:cNvSpPr/>
          <p:nvPr/>
        </p:nvSpPr>
        <p:spPr>
          <a:xfrm>
            <a:off x="9850398" y="4602956"/>
            <a:ext cx="416004" cy="416004"/>
          </a:xfrm>
          <a:prstGeom prst="roundRect">
            <a:avLst>
              <a:gd name="adj" fmla="val 219806"/>
            </a:avLst>
          </a:prstGeom>
          <a:solidFill>
            <a:srgbClr val="8061FF"/>
          </a:solidFill>
        </p:spPr>
      </p:sp>
      <p:sp>
        <p:nvSpPr>
          <p:cNvPr id="19" name="Text 16"/>
          <p:cNvSpPr/>
          <p:nvPr/>
        </p:nvSpPr>
        <p:spPr>
          <a:xfrm>
            <a:off x="9975175" y="4706898"/>
            <a:ext cx="166330" cy="2080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25647" y="5157668"/>
            <a:ext cx="2022872" cy="2038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Visual Demonstrations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125647" y="5444609"/>
            <a:ext cx="7865507" cy="221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UI screenshots showcasing all major features, user workflow demonstrations, and responsive design across devices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971818" y="6166961"/>
            <a:ext cx="8173164" cy="1231344"/>
          </a:xfrm>
          <a:prstGeom prst="roundRect">
            <a:avLst>
              <a:gd name="adj" fmla="val 5941"/>
            </a:avLst>
          </a:prstGeom>
          <a:solidFill>
            <a:srgbClr val="0C0A33"/>
          </a:solidFill>
        </p:spPr>
      </p:sp>
      <p:sp>
        <p:nvSpPr>
          <p:cNvPr id="23" name="Shape 20"/>
          <p:cNvSpPr/>
          <p:nvPr/>
        </p:nvSpPr>
        <p:spPr>
          <a:xfrm>
            <a:off x="5971818" y="6151721"/>
            <a:ext cx="8173164" cy="60960"/>
          </a:xfrm>
          <a:prstGeom prst="roundRect">
            <a:avLst>
              <a:gd name="adj" fmla="val 34128"/>
            </a:avLst>
          </a:prstGeom>
          <a:solidFill>
            <a:srgbClr val="8061FF"/>
          </a:solidFill>
        </p:spPr>
      </p:sp>
      <p:sp>
        <p:nvSpPr>
          <p:cNvPr id="24" name="Shape 21"/>
          <p:cNvSpPr/>
          <p:nvPr/>
        </p:nvSpPr>
        <p:spPr>
          <a:xfrm>
            <a:off x="9850398" y="5958959"/>
            <a:ext cx="416004" cy="416004"/>
          </a:xfrm>
          <a:prstGeom prst="roundRect">
            <a:avLst>
              <a:gd name="adj" fmla="val 219806"/>
            </a:avLst>
          </a:prstGeom>
          <a:solidFill>
            <a:srgbClr val="8061FF"/>
          </a:solidFill>
        </p:spPr>
      </p:sp>
      <p:sp>
        <p:nvSpPr>
          <p:cNvPr id="25" name="Text 22"/>
          <p:cNvSpPr/>
          <p:nvPr/>
        </p:nvSpPr>
        <p:spPr>
          <a:xfrm>
            <a:off x="9975175" y="6062901"/>
            <a:ext cx="166330" cy="2080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125647" y="6513671"/>
            <a:ext cx="1631633" cy="2038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Final Presentation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125647" y="6800612"/>
            <a:ext cx="7865507" cy="443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Professional project presentation covering problem statement, technical approach, implementation highlights, challenges overcome, and live demonstration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1769" y="645676"/>
            <a:ext cx="7805023" cy="690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Challenges and Learnings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821769" y="1923217"/>
            <a:ext cx="3361730" cy="345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Challenges Overcome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21769" y="2503289"/>
            <a:ext cx="6206966" cy="3756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Technical complexity of integrating multiple systems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1769" y="2961084"/>
            <a:ext cx="6206966" cy="3756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Ensuring data security and compliance requirements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1769" y="3418880"/>
            <a:ext cx="6206966" cy="7512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Managing real-time updates across distributed components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1769" y="4252317"/>
            <a:ext cx="6206966" cy="7512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Handling high-volume concurrent grievance submissions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1769" y="5085755"/>
            <a:ext cx="6206966" cy="7512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Implementing efficient search and filtering across large datasets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1769" y="5919192"/>
            <a:ext cx="6206966" cy="7512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Designing intuitive UI for diverse user groups with varying technical expertise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1769" y="6752630"/>
            <a:ext cx="6206966" cy="7512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Optimizing database queries for performance under load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09284" y="1923217"/>
            <a:ext cx="2762488" cy="345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Learnings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609284" y="2503289"/>
            <a:ext cx="6206966" cy="3756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Importance of robust error handling and logging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09284" y="2961084"/>
            <a:ext cx="6206966" cy="7512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Value of comprehensive testing at each development stage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09284" y="3794522"/>
            <a:ext cx="6206966" cy="7512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Effective communication between frontend and backend teams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09284" y="4627959"/>
            <a:ext cx="6206966" cy="3756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Scalability considerations from the project's inception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09284" y="5085755"/>
            <a:ext cx="6206966" cy="7512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User feedback integration improves system usability significantly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09284" y="5919192"/>
            <a:ext cx="6206966" cy="7512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Documentation is critical for long-term project maintenance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09284" y="6752630"/>
            <a:ext cx="6206966" cy="7512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Agile methodology enables faster iteration and problem resolution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97073"/>
            <a:ext cx="12954952" cy="21121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600"/>
              </a:lnSpc>
              <a:buNone/>
            </a:pPr>
            <a:r>
              <a:rPr lang="en-US" sz="1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</a:t>
            </a:r>
            <a:endParaRPr lang="en-US" sz="13300" dirty="0"/>
          </a:p>
        </p:txBody>
      </p:sp>
      <p:sp>
        <p:nvSpPr>
          <p:cNvPr id="3" name="Text 1"/>
          <p:cNvSpPr/>
          <p:nvPr/>
        </p:nvSpPr>
        <p:spPr>
          <a:xfrm>
            <a:off x="837724" y="4768215"/>
            <a:ext cx="3379470" cy="422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Debarghya Sikder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37724" y="5549503"/>
            <a:ext cx="12954952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E-Governance Grievance Redressal System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7933</Words>
  <Application>WPS Presentation</Application>
  <PresentationFormat>On-screen Show (16:9)</PresentationFormat>
  <Paragraphs>342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SimSun</vt:lpstr>
      <vt:lpstr>Wingdings</vt:lpstr>
      <vt:lpstr>Syne Bold</vt:lpstr>
      <vt:lpstr>Segoe Print</vt:lpstr>
      <vt:lpstr>Syne Bold</vt:lpstr>
      <vt:lpstr>Syne Bold</vt:lpstr>
      <vt:lpstr>Arimo</vt:lpstr>
      <vt:lpstr>Arimo</vt:lpstr>
      <vt:lpstr>Arimo</vt:lpstr>
      <vt:lpstr>Syne Light</vt:lpstr>
      <vt:lpstr>Syne Light</vt:lpstr>
      <vt:lpstr>Syne Light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DEBARGHYA SIKDER</cp:lastModifiedBy>
  <cp:revision>2</cp:revision>
  <dcterms:created xsi:type="dcterms:W3CDTF">2026-01-07T14:36:00Z</dcterms:created>
  <dcterms:modified xsi:type="dcterms:W3CDTF">2026-01-08T08:29:15Z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C2CC3FFAAA0C443CB34523F40BB88238_12</vt:lpwstr>
  </property>
  <property fmtid="{D5CDD505-2E9C-101B-9397-08002B2CF9AE}" pid="3" name="KSOProductBuildVer">
    <vt:lpwstr>1033-12.2.0.23196</vt:lpwstr>
  </property>
</Properties>
</file>